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74519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5800" b="1" i="0">
                <a:solidFill>
                  <a:srgbClr val="E0A94F"/>
                </a:solidFill>
                <a:latin typeface="Microsoft YaHei"/>
                <a:ea typeface="Microsoft YaHei"/>
              </a:rPr>
              <a:t>DIG  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75504" y="2880360"/>
            <a:ext cx="1828800" cy="2540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127248"/>
            <a:ext cx="9445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3EAD8"/>
                </a:solidFill>
                <a:latin typeface="Microsoft YaHei"/>
                <a:ea typeface="Microsoft YaHei"/>
              </a:rPr>
              <a:t>手势考古 · Gesture Archaeology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9445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B7A98F"/>
                </a:solidFill>
                <a:latin typeface="Microsoft YaHei"/>
                <a:ea typeface="Microsoft YaHei"/>
              </a:rPr>
              <a:t>当一块智能手表成为文物，你会如何「挖掘」它的过去？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70832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B7A98F"/>
                </a:solidFill>
                <a:latin typeface="Microsoft YaHei"/>
                <a:ea typeface="Microsoft YaHei"/>
              </a:rPr>
              <a:t>You are a future archaeologist — you have just discovered an ancient relic.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492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E0A94F"/>
                </a:solidFill>
                <a:latin typeface="Microsoft YaHei"/>
                <a:ea typeface="Microsoft YaHei"/>
              </a:rPr>
              <a:t>Creative Tech 1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97880"/>
            <a:ext cx="9445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B7A98F"/>
                </a:solidFill>
                <a:latin typeface="Microsoft YaHei"/>
                <a:ea typeface="Microsoft YaHei"/>
              </a:rPr>
              <a:t>手势交互  ·  计算机视觉  ·  生成式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01 ·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3EAD8"/>
                </a:solidFill>
                <a:latin typeface="Microsoft YaHei"/>
                <a:ea typeface="Microsoft YaHei"/>
              </a:rPr>
              <a:t>项目概述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B7A98F"/>
                </a:solidFill>
                <a:latin typeface="Microsoft YaHei"/>
                <a:ea typeface="Microsoft YaHei"/>
              </a:rPr>
              <a:t>一个用手势「考古」的互动网页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060704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700" b="1" i="0">
                <a:solidFill>
                  <a:srgbClr val="F0C877"/>
                </a:solidFill>
                <a:latin typeface="Microsoft YaHei"/>
                <a:ea typeface="Microsoft YaHei"/>
              </a:rPr>
              <a:t>一句话概念：</a:t>
            </a:r>
            <a:r>
              <a:rPr sz="1700" b="0" i="0">
                <a:solidFill>
                  <a:srgbClr val="F3EAD8"/>
                </a:solidFill>
                <a:latin typeface="Microsoft YaHei"/>
                <a:ea typeface="Microsoft YaHei"/>
              </a:rPr>
              <a:t>观众扮演「未来考古学家」，用摄像头识别手势，发掘一件“来自过去的智能手表”。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700" b="1" i="0">
                <a:solidFill>
                  <a:srgbClr val="F0C877"/>
                </a:solidFill>
                <a:latin typeface="Microsoft YaHei"/>
                <a:ea typeface="Microsoft YaHei"/>
              </a:rPr>
              <a:t>全程无鼠标键盘：</a:t>
            </a:r>
            <a:r>
              <a:rPr sz="1700" b="0" i="0">
                <a:solidFill>
                  <a:srgbClr val="F3EAD8"/>
                </a:solidFill>
                <a:latin typeface="Microsoft YaHei"/>
                <a:ea typeface="Microsoft YaHei"/>
              </a:rPr>
              <a:t>仅凭张开手掌、握拳、捏合等手势推进整条叙事，身体动作本身就是交互。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700" b="1" i="0">
                <a:solidFill>
                  <a:srgbClr val="F0C877"/>
                </a:solidFill>
                <a:latin typeface="Microsoft YaHei"/>
                <a:ea typeface="Microsoft YaHei"/>
              </a:rPr>
              <a:t>叙事弧线：</a:t>
            </a:r>
            <a:r>
              <a:rPr sz="1700" b="0" i="0">
                <a:solidFill>
                  <a:srgbClr val="F3EAD8"/>
                </a:solidFill>
                <a:latin typeface="Microsoft YaHei"/>
                <a:ea typeface="Microsoft YaHei"/>
              </a:rPr>
              <a:t>开场换脸 → 扫土挖掘 → 握拳检测 → 爆炸图零件 → 捏合查看 → AI 猜想 → 三种处置 → 生成档案卡。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17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700" b="1" i="0">
                <a:solidFill>
                  <a:srgbClr val="F0C877"/>
                </a:solidFill>
                <a:latin typeface="Microsoft YaHei"/>
                <a:ea typeface="Microsoft YaHei"/>
              </a:rPr>
              <a:t>技术亮点：</a:t>
            </a:r>
            <a:r>
              <a:rPr sz="1700" b="0" i="0">
                <a:solidFill>
                  <a:srgbClr val="F3EAD8"/>
                </a:solidFill>
                <a:latin typeface="Microsoft YaHei"/>
                <a:ea typeface="Microsoft YaHei"/>
              </a:rPr>
              <a:t>MediaPipe 手势识别 + Ollama 本地大模型 + 逐像素零件动画，三者离线可跑。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02 ·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3EAD8"/>
                </a:solidFill>
                <a:latin typeface="Microsoft YaHei"/>
                <a:ea typeface="Microsoft YaHei"/>
              </a:rPr>
              <a:t>为什么做这个 · 灵感与主题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3502152" cy="3291840"/>
          </a:xfrm>
          <a:prstGeom prst="roundRect">
            <a:avLst>
              <a:gd name="adj" fmla="val 6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0C877"/>
                </a:solidFill>
                <a:latin typeface="Microsoft YaHei"/>
                <a:ea typeface="Microsoft YaHei"/>
              </a:rPr>
              <a:t>♻️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3EAD8"/>
                </a:solidFill>
                <a:latin typeface="Microsoft YaHei"/>
                <a:ea typeface="Microsoft YaHei"/>
              </a:rPr>
              <a:t>电子垃圾与可持续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2953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B7A98F"/>
                </a:solidFill>
                <a:latin typeface="Microsoft YaHei"/>
                <a:ea typeface="Microsoft YaHei"/>
              </a:rPr>
              <a:t>一块智能手表 = 玻璃 / 硅 / 电池 / 铝。拆解与回收，才是它最现实的未来。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103120"/>
            <a:ext cx="3502152" cy="3291840"/>
          </a:xfrm>
          <a:prstGeom prst="roundRect">
            <a:avLst>
              <a:gd name="adj" fmla="val 6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377440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0C877"/>
                </a:solidFill>
                <a:latin typeface="Microsoft YaHei"/>
                <a:ea typeface="Microsoft YaHei"/>
              </a:rPr>
              <a:t>🏛️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15468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3EAD8"/>
                </a:solidFill>
                <a:latin typeface="Microsoft YaHei"/>
                <a:ea typeface="Microsoft YaHei"/>
              </a:rPr>
              <a:t>科技即未来文物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794760"/>
            <a:ext cx="2953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B7A98F"/>
                </a:solidFill>
                <a:latin typeface="Microsoft YaHei"/>
                <a:ea typeface="Microsoft YaHei"/>
              </a:rPr>
              <a:t>今天被我们随手丢弃的科技产品，终将成为后人眼中需要「考古」的遗迹。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2103120"/>
            <a:ext cx="3502152" cy="3291840"/>
          </a:xfrm>
          <a:prstGeom prst="roundRect">
            <a:avLst>
              <a:gd name="adj" fmla="val 6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377440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0C877"/>
                </a:solidFill>
                <a:latin typeface="Microsoft YaHei"/>
                <a:ea typeface="Microsoft YaHei"/>
              </a:rPr>
              <a:t>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15468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3EAD8"/>
                </a:solidFill>
                <a:latin typeface="Microsoft YaHei"/>
                <a:ea typeface="Microsoft YaHei"/>
              </a:rPr>
              <a:t>身体即交互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794760"/>
            <a:ext cx="2953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B7A98F"/>
                </a:solidFill>
                <a:latin typeface="Microsoft YaHei"/>
                <a:ea typeface="Microsoft YaHei"/>
              </a:rPr>
              <a:t>用「扫土」「握拳」「拼合」的肢体动作代替点击，让挖掘与拼装的动作成为叙事本身。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03 · EXPERIENCE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3EAD8"/>
                </a:solidFill>
                <a:latin typeface="Microsoft YaHei"/>
                <a:ea typeface="Microsoft YaHei"/>
              </a:rPr>
              <a:t>完整体验流程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B7A98F"/>
                </a:solidFill>
                <a:latin typeface="Microsoft YaHei"/>
                <a:ea typeface="Microsoft YaHei"/>
              </a:rPr>
              <a:t>状态机驱动，手势推进每一步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134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BOOT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加载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238658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E0A94F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214884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23134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INTRO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69748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开场换脸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238658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E0A94F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0176" y="214884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0176" y="23134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PROMPT1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269748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提示：张手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38658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E0A94F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50224" y="214884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0224" y="23134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ANIM1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0224" y="269748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扫土动画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6052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221B12"/>
          </a:solidFill>
          <a:ln w="12700">
            <a:solidFill>
              <a:srgbClr val="E0A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32511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0916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三种处置→档案卡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439826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E0A94F"/>
                </a:solidFill>
                <a:latin typeface="Microsoft YaHei"/>
                <a:ea typeface="Microsoft YaHei"/>
              </a:rPr>
              <a:t>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10128" y="416052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432511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SELECT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470916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爆炸图·捏合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98648" y="439826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E0A94F"/>
                </a:solidFill>
                <a:latin typeface="Microsoft YaHei"/>
                <a:ea typeface="Microsoft YaHei"/>
              </a:rPr>
              <a:t>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0176" y="416052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0176" y="432511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ANIM2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0176" y="470916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检测动画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68696" y="439826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E0A94F"/>
                </a:solidFill>
                <a:latin typeface="Microsoft YaHei"/>
                <a:ea typeface="Microsoft YaHei"/>
              </a:rPr>
              <a:t>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50224" y="416052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50224" y="432511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PROMPT2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50224" y="470916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提示：握拳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82328" y="3200400"/>
            <a:ext cx="548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E0A94F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B7A98F"/>
                </a:solidFill>
                <a:latin typeface="Microsoft YaHei"/>
                <a:ea typeface="Microsoft YaHei"/>
              </a:rPr>
              <a:t>从「成为未来考古学家」开始，到「为这件文物选择命运」结束，全程由手势串联。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04 · HAND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3EAD8"/>
                </a:solidFill>
                <a:latin typeface="Microsoft YaHei"/>
                <a:ea typeface="Microsoft YaHei"/>
              </a:rPr>
              <a:t>手势识别 · Hand Tracking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B7A98F"/>
                </a:solidFill>
                <a:latin typeface="Microsoft YaHei"/>
                <a:ea typeface="Microsoft YaHei"/>
              </a:rPr>
              <a:t>MediaPipe 手部关键点 + 阈值判断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引擎：</a:t>
            </a:r>
            <a:r>
              <a:rPr sz="1500" b="0" i="0">
                <a:solidFill>
                  <a:srgbClr val="F3EAD8"/>
                </a:solidFill>
                <a:latin typeface="Microsoft YaHei"/>
                <a:ea typeface="Microsoft YaHei"/>
              </a:rPr>
              <a:t>MediaPipe Tasks Vision HandLandmarker，本地离线（vendor/mediapipe 目录，无需联网）。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原理：</a:t>
            </a:r>
            <a:r>
              <a:rPr sz="1500" b="0" i="0">
                <a:solidFill>
                  <a:srgbClr val="F3EAD8"/>
                </a:solidFill>
                <a:latin typeface="Microsoft YaHei"/>
                <a:ea typeface="Microsoft YaHei"/>
              </a:rPr>
              <a:t>每帧得到 21 个手部关键点，计算「伸直手指数 extendedCount」，并对结果做平滑去抖。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5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关键阈值：</a:t>
            </a:r>
            <a:r>
              <a:rPr sz="1500" b="0" i="0">
                <a:solidFill>
                  <a:srgbClr val="F3EAD8"/>
                </a:solidFill>
                <a:latin typeface="Microsoft YaHei"/>
                <a:ea typeface="Microsoft YaHei"/>
              </a:rPr>
              <a:t>张开手掌 ≥ 3.6 → 扫土；握拳 ≤ 1.2 → 检测；捏合 &lt; 0.32×手部尺度 → 拖出零件。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17720"/>
            <a:ext cx="3502152" cy="1600200"/>
          </a:xfrm>
          <a:prstGeom prst="roundRect">
            <a:avLst>
              <a:gd name="adj" fmla="val 8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00600"/>
            <a:ext cx="1005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0C877"/>
                </a:solidFill>
                <a:latin typeface="Microsoft YaHei"/>
                <a:ea typeface="Microsoft YaHei"/>
              </a:rPr>
              <a:t>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773168"/>
            <a:ext cx="2130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3EAD8"/>
                </a:solidFill>
                <a:latin typeface="Microsoft YaHei"/>
                <a:ea typeface="Microsoft YaHei"/>
              </a:rPr>
              <a:t>张开手掌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230368"/>
            <a:ext cx="2130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open palm
≥ 3.6 指伸直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742432"/>
            <a:ext cx="2130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F0C877"/>
                </a:solidFill>
                <a:latin typeface="Microsoft YaHei"/>
                <a:ea typeface="Microsoft YaHei"/>
              </a:rPr>
              <a:t>扫去尘土 / 展开爆炸图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4617720"/>
            <a:ext cx="3502152" cy="1600200"/>
          </a:xfrm>
          <a:prstGeom prst="roundRect">
            <a:avLst>
              <a:gd name="adj" fmla="val 8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4800600"/>
            <a:ext cx="1005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0C877"/>
                </a:solidFill>
                <a:latin typeface="Microsoft YaHei"/>
                <a:ea typeface="Microsoft YaHei"/>
              </a:rPr>
              <a:t>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4773168"/>
            <a:ext cx="2130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3EAD8"/>
                </a:solidFill>
                <a:latin typeface="Microsoft YaHei"/>
                <a:ea typeface="Microsoft YaHei"/>
              </a:rPr>
              <a:t>握拳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2976" y="5230368"/>
            <a:ext cx="2130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fist
≤ 1.2 指伸直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2976" y="5742432"/>
            <a:ext cx="2130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F0C877"/>
                </a:solidFill>
                <a:latin typeface="Microsoft YaHei"/>
                <a:ea typeface="Microsoft YaHei"/>
              </a:rPr>
              <a:t>触发检测 / 拼合收尾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4617720"/>
            <a:ext cx="3502152" cy="1600200"/>
          </a:xfrm>
          <a:prstGeom prst="roundRect">
            <a:avLst>
              <a:gd name="adj" fmla="val 8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4800600"/>
            <a:ext cx="1005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0C877"/>
                </a:solidFill>
                <a:latin typeface="Microsoft YaHei"/>
                <a:ea typeface="Microsoft YaHei"/>
              </a:rPr>
              <a:t>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4773168"/>
            <a:ext cx="2130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3EAD8"/>
                </a:solidFill>
                <a:latin typeface="Microsoft YaHei"/>
                <a:ea typeface="Microsoft YaHei"/>
              </a:rPr>
              <a:t>捏合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5230368"/>
            <a:ext cx="2130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pinch
指尖距离 &lt; 0.32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5742432"/>
            <a:ext cx="2130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F0C877"/>
                </a:solidFill>
                <a:latin typeface="Microsoft YaHei"/>
                <a:ea typeface="Microsoft YaHei"/>
              </a:rPr>
              <a:t>拖出零件 · 查看信息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05 · INTRO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3EAD8"/>
                </a:solidFill>
                <a:latin typeface="Microsoft YaHei"/>
                <a:ea typeface="Microsoft YaHei"/>
              </a:rPr>
              <a:t>开场 · 成为未来考古学家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B7A98F"/>
                </a:solidFill>
                <a:latin typeface="Microsoft YaHei"/>
                <a:ea typeface="Microsoft YaHei"/>
              </a:rPr>
              <a:t>你的脸，就是考古学家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58521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摄像头实时预览：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脸部对齐椭圆取景框，点击「📸 Freeze my face」定格。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拖动贴合：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拖动照片 + 缩放滑杆，把脸精确贴合到考古学家头像上。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一秒入戏：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从第一帧起，观众就成为了那位「来自未来的考古学家」。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可重拍：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随时 Retake，直到满意为止。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148840"/>
            <a:ext cx="4480560" cy="3749039"/>
          </a:xfrm>
          <a:prstGeom prst="roundRect">
            <a:avLst>
              <a:gd name="adj" fmla="val 5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46888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0C877"/>
                </a:solidFill>
                <a:latin typeface="Microsoft YaHei"/>
                <a:ea typeface="Microsoft YaHei"/>
              </a:rPr>
              <a:t>🖼️  换脸流程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108960"/>
            <a:ext cx="39319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1.  摄像头实时取景，出现椭圆引导框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2.  Freeze my face 定格快照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3.  拖动 + Size 滑杆贴合脸型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4.  开始「考古」之旅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06 · EXCAVATE &amp; DETECT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3EAD8"/>
                </a:solidFill>
                <a:latin typeface="Microsoft YaHei"/>
                <a:ea typeface="Microsoft YaHei"/>
              </a:rPr>
              <a:t>挖掘 &amp; 检测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B7A98F"/>
                </a:solidFill>
                <a:latin typeface="Microsoft YaHei"/>
                <a:ea typeface="Microsoft YaHei"/>
              </a:rPr>
              <a:t>扫土 → 握拳 → 爆炸图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060704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扫土动画：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张开手掌，屏幕逐帧扫去尘土，露出被掩埋的遗迹（Speed 可调 1–30 fps）。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握拳检测：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握拳触发“探测”动画，锁定地层之下埋藏的到底是什么。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爆炸图展开：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零件以 CSS 自定义属性 --y / --d 逐层展开，一块智能手表被拆解成 4 个部件。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4 个部件：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屏幕 / 电路板 / 电池 / 表壳，每个都有真实的信息与来源。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07 · PARTS &amp;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3EAD8"/>
                </a:solidFill>
                <a:latin typeface="Microsoft YaHei"/>
                <a:ea typeface="Microsoft YaHei"/>
              </a:rPr>
              <a:t>零件信息 + AI 猜想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B7A98F"/>
                </a:solidFill>
                <a:latin typeface="Microsoft YaHei"/>
                <a:ea typeface="Microsoft YaHei"/>
              </a:rPr>
              <a:t>捏合拖出零件，听未来考古学家怎么说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捏合拖出：</a:t>
            </a:r>
            <a:r>
              <a:rPr sz="1500" b="0" i="0">
                <a:solidFill>
                  <a:srgbClr val="F3EAD8"/>
                </a:solidFill>
                <a:latin typeface="Microsoft YaHei"/>
                <a:ea typeface="Microsoft YaHei"/>
              </a:rPr>
              <a:t>拇指与指尖捏合任意零件，把它从爆炸图中拖出来，旁边弹出信息卡。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真实数据：</a:t>
            </a:r>
            <a:r>
              <a:rPr sz="1500" b="0" i="0">
                <a:solidFill>
                  <a:srgbClr val="F3EAD8"/>
                </a:solidFill>
                <a:latin typeface="Microsoft YaHei"/>
                <a:ea typeface="Microsoft YaHei"/>
              </a:rPr>
              <a:t>信息来自 data/parts.json（含名称、说明与来源链接），不编造事实。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5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AI 猜想：</a:t>
            </a:r>
            <a:r>
              <a:rPr sz="1500" b="0" i="0">
                <a:solidFill>
                  <a:srgbClr val="F3EAD8"/>
                </a:solidFill>
                <a:latin typeface="Microsoft YaHei"/>
                <a:ea typeface="Microsoft YaHei"/>
              </a:rPr>
              <a:t>点击「听听未来考古学家的猜想」，由本地 Ollama 模型生成一段“未来视角”的解读文字。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800600"/>
            <a:ext cx="10607040" cy="1417320"/>
          </a:xfrm>
          <a:prstGeom prst="roundRect">
            <a:avLst>
              <a:gd name="adj" fmla="val 8000"/>
            </a:avLst>
          </a:prstGeom>
          <a:solidFill>
            <a:srgbClr val="221B12"/>
          </a:solidFill>
          <a:ln w="12700">
            <a:solidFill>
              <a:srgbClr val="E0A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983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🤖  AI 方案：Ollama 本地模型 gemma3:1b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B7A98F"/>
                </a:solidFill>
                <a:latin typeface="Microsoft YaHei"/>
                <a:ea typeface="Microsoft YaHei"/>
              </a:rPr>
              <a:t>全程离线、免费、数据不出本机；也可切换 Claude / OpenAI 走 Node 代理。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08 · THREE FUTURES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3EAD8"/>
                </a:solidFill>
                <a:latin typeface="Microsoft YaHei"/>
                <a:ea typeface="Microsoft YaHei"/>
              </a:rPr>
              <a:t>结尾 · 三种处置选择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B7A98F"/>
                </a:solidFill>
                <a:latin typeface="Microsoft YaHei"/>
                <a:ea typeface="Microsoft YaHei"/>
              </a:rPr>
              <a:t>You have uncovered its past. What should happen next?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3502152" cy="3749039"/>
          </a:xfrm>
          <a:prstGeom prst="roundRect">
            <a:avLst>
              <a:gd name="adj" fmla="val 6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953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0" i="0">
                <a:solidFill>
                  <a:srgbClr val="F0C877"/>
                </a:solidFill>
                <a:latin typeface="Microsoft YaHei"/>
                <a:ea typeface="Microsoft YaHei"/>
              </a:rPr>
              <a:t>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3EAD8"/>
                </a:solidFill>
                <a:latin typeface="Microsoft YaHei"/>
                <a:ea typeface="Microsoft YaHei"/>
              </a:rPr>
              <a:t>Repair &amp; Reuse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修复与再使用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295351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B7A98F"/>
                </a:solidFill>
                <a:latin typeface="Microsoft YaHei"/>
                <a:ea typeface="Microsoft YaHei"/>
              </a:rPr>
              <a:t>零件重新组合，屏幕微弱亮起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194560"/>
            <a:ext cx="3502152" cy="3749039"/>
          </a:xfrm>
          <a:prstGeom prst="roundRect">
            <a:avLst>
              <a:gd name="adj" fmla="val 6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514600"/>
            <a:ext cx="2953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0" i="0">
                <a:solidFill>
                  <a:srgbClr val="F0C877"/>
                </a:solidFill>
                <a:latin typeface="Microsoft YaHei"/>
                <a:ea typeface="Microsoft YaHei"/>
              </a:rPr>
              <a:t>♻️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38328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3EAD8"/>
                </a:solidFill>
                <a:latin typeface="Microsoft YaHei"/>
                <a:ea typeface="Microsoft YaHei"/>
              </a:rPr>
              <a:t>Recover Materials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977639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回收材料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4526280"/>
            <a:ext cx="295351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B7A98F"/>
                </a:solidFill>
                <a:latin typeface="Microsoft YaHei"/>
                <a:ea typeface="Microsoft YaHei"/>
              </a:rPr>
              <a:t>零件飞入玻璃 / 硅 / 电池 / 铝收集格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2194560"/>
            <a:ext cx="3502152" cy="3749039"/>
          </a:xfrm>
          <a:prstGeom prst="roundRect">
            <a:avLst>
              <a:gd name="adj" fmla="val 6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2514600"/>
            <a:ext cx="29535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0" i="0">
                <a:solidFill>
                  <a:srgbClr val="F0C877"/>
                </a:solidFill>
                <a:latin typeface="Microsoft YaHei"/>
                <a:ea typeface="Microsoft YaHei"/>
              </a:rPr>
              <a:t>🏛️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38328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3EAD8"/>
                </a:solidFill>
                <a:latin typeface="Microsoft YaHei"/>
                <a:ea typeface="Microsoft YaHei"/>
              </a:rPr>
              <a:t>Preserve as Artefact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977639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作为文物保存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4526280"/>
            <a:ext cx="295351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B7A98F"/>
                </a:solidFill>
                <a:latin typeface="Microsoft YaHei"/>
                <a:ea typeface="Microsoft YaHei"/>
              </a:rPr>
              <a:t>旁边出现博物馆档案标签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09 · ARCHIVE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3EAD8"/>
                </a:solidFill>
                <a:latin typeface="Microsoft YaHei"/>
                <a:ea typeface="Microsoft YaHei"/>
              </a:rPr>
              <a:t>最终 · 考古档案卡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B7A98F"/>
                </a:solidFill>
                <a:latin typeface="Microsoft YaHei"/>
                <a:ea typeface="Microsoft YaHei"/>
              </a:rPr>
              <a:t>让观众为这件文物留下一句话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060704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一句话输入：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选择处置后出现输入框 —— “你希望未来的人记住这个物品的什么？”（≤140 字）。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生成档案卡：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观众的这句话 + 处置方式，共同生成一张“考古档案卡”。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档案卡内容：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处置方式 · 观众的一句话 · 编号 No. 2026-047 · 印章 · 重新开始按钮。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意义：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每位观众都为这件“文物”留下独一无二的记忆，完成从“挖掘”到“铭记”的闭环。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10 ·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3EAD8"/>
                </a:solidFill>
                <a:latin typeface="Microsoft YaHei"/>
                <a:ea typeface="Microsoft YaHei"/>
              </a:rPr>
              <a:t>技术架构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B7A98F"/>
                </a:solidFill>
                <a:latin typeface="Microsoft YaHei"/>
                <a:ea typeface="Microsoft YaHei"/>
              </a:rPr>
              <a:t>三层：表现 · 感知 · 智能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10607040" cy="1207008"/>
          </a:xfrm>
          <a:prstGeom prst="roundRect">
            <a:avLst>
              <a:gd name="adj" fmla="val 10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0C877"/>
                </a:solidFill>
                <a:latin typeface="Microsoft YaHei"/>
                <a:ea typeface="Microsoft YaHei"/>
              </a:rPr>
              <a:t>表现层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7919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HTML + CSS + 原生 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276856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F3EAD8"/>
                </a:solidFill>
                <a:latin typeface="Microsoft YaHei"/>
                <a:ea typeface="Microsoft YaHei"/>
              </a:rPr>
              <a:t>CSS 自定义属性驱动爆炸图与逐像素飞行动画；JS 状态机串起整条叙事。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74720"/>
            <a:ext cx="10607040" cy="1207008"/>
          </a:xfrm>
          <a:prstGeom prst="roundRect">
            <a:avLst>
              <a:gd name="adj" fmla="val 10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3931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0C877"/>
                </a:solidFill>
                <a:latin typeface="Microsoft YaHei"/>
                <a:ea typeface="Microsoft YaHei"/>
              </a:rPr>
              <a:t>感知层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09651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MediaPipe HandLandmarker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694176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F3EAD8"/>
                </a:solidFill>
                <a:latin typeface="Microsoft YaHei"/>
                <a:ea typeface="Microsoft YaHei"/>
              </a:rPr>
              <a:t>本地 WASM 离线识别 21 个手部关键点，输出手指数量与捏合手势。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92040"/>
            <a:ext cx="10607040" cy="1207008"/>
          </a:xfrm>
          <a:prstGeom prst="roundRect">
            <a:avLst>
              <a:gd name="adj" fmla="val 10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05663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0C877"/>
                </a:solidFill>
                <a:latin typeface="Microsoft YaHei"/>
                <a:ea typeface="Microsoft YaHei"/>
              </a:rPr>
              <a:t>智能层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51383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Ollama · gemma3:1b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111496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F3EAD8"/>
                </a:solidFill>
                <a:latin typeface="Microsoft YaHei"/>
                <a:ea typeface="Microsoft YaHei"/>
              </a:rPr>
              <a:t>本地大模型生成“未来考古学家”的猜想；可切换 Claude / OpenAI。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309360"/>
            <a:ext cx="10607040" cy="0"/>
          </a:xfrm>
          <a:prstGeom prst="rect">
            <a:avLst/>
          </a:prstGeom>
          <a:solidFill>
            <a:srgbClr val="1A14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E0A94F"/>
                </a:solidFill>
                <a:latin typeface="Microsoft YaHei"/>
                <a:ea typeface="Microsoft YaHei"/>
              </a:rPr>
              <a:t>🔒  安全：</a:t>
            </a:r>
            <a:r>
              <a:rPr sz="1300" b="0" i="0">
                <a:solidFill>
                  <a:srgbClr val="B7A98F"/>
                </a:solidFill>
                <a:latin typeface="Microsoft YaHei"/>
                <a:ea typeface="Microsoft YaHei"/>
              </a:rPr>
              <a:t>API Key 只写在 .env（已 gitignore），由 server.js 代理转发，绝不出现在前端 JS 中。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11 · REFLECTION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3EAD8"/>
                </a:solidFill>
                <a:latin typeface="Microsoft YaHei"/>
                <a:ea typeface="Microsoft YaHei"/>
              </a:rPr>
              <a:t>总结 · 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1060704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用身体交互讲故事：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手势不再是“替代鼠标”，而是“挖掘”“拼合”“铭记”的叙事动作本身。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一件平凡之物，三种命运：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修复 / 回收 / 保存 —— 观众的选择，正是我们对电子垃圾的真实选择。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可持续主题：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把“科技即未来文物”与“电子废弃物”议题，藏进一场好玩的互动体验里。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0C877"/>
                </a:solidFill>
                <a:latin typeface="Microsoft YaHei"/>
                <a:ea typeface="Microsoft YaHei"/>
              </a:rPr>
              <a:t>Thank you  ·  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