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74519"/>
            <a:ext cx="9445752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5800" b="1" i="0">
                <a:solidFill>
                  <a:srgbClr val="E0A94F"/>
                </a:solidFill>
                <a:latin typeface="Microsoft YaHei"/>
                <a:ea typeface="Microsoft YaHei"/>
              </a:rPr>
              <a:t>DIG  SITE</a:t>
            </a:r>
          </a:p>
        </p:txBody>
      </p:sp>
      <p:sp>
        <p:nvSpPr>
          <p:cNvPr id="4" name="Rectangle 3"/>
          <p:cNvSpPr/>
          <p:nvPr/>
        </p:nvSpPr>
        <p:spPr>
          <a:xfrm>
            <a:off x="5175504" y="2880360"/>
            <a:ext cx="1828800" cy="2540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127248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600" b="1" i="0">
                <a:solidFill>
                  <a:srgbClr val="F3EAD8"/>
                </a:solidFill>
                <a:latin typeface="Microsoft YaHei"/>
                <a:ea typeface="Microsoft YaHei"/>
              </a:rPr>
              <a:t>手势考古 · Gesture Archaeology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794760"/>
            <a:ext cx="944575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800" b="0" i="0">
                <a:solidFill>
                  <a:srgbClr val="B7A98F"/>
                </a:solidFill>
                <a:latin typeface="Microsoft YaHei"/>
                <a:ea typeface="Microsoft YaHei"/>
              </a:rPr>
              <a:t>当一块智能手表成为文物，你会如何「挖掘」它的过去？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370832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400" b="0" i="1">
                <a:solidFill>
                  <a:srgbClr val="B7A98F"/>
                </a:solidFill>
                <a:latin typeface="Microsoft YaHei"/>
                <a:ea typeface="Microsoft YaHei"/>
              </a:rPr>
              <a:t>You are a future archaeologist — you have just discovered an ancient relic.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34924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E0A94F"/>
                </a:solidFill>
                <a:latin typeface="Microsoft YaHei"/>
                <a:ea typeface="Microsoft YaHei"/>
              </a:rPr>
              <a:t>Creative Tech 1  · 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89788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200" b="0" i="0">
                <a:solidFill>
                  <a:srgbClr val="B7A98F"/>
                </a:solidFill>
                <a:latin typeface="Microsoft YaHei"/>
                <a:ea typeface="Microsoft YaHei"/>
              </a:rPr>
              <a:t>手势交互  ·  计算机视觉  ·  生成式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01 ·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项目概述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一个用手势「考古」的互动网页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10607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一句话概念：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观众扮演「未来考古学家」，用摄像头识别手势，发掘一件“来自过去的智能手表”。</a:t>
            </a:r>
          </a:p>
          <a:p>
            <a:pPr>
              <a:lnSpc>
                <a:spcPct val="116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全程无鼠标键盘：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仅凭张开手掌、握拳、捏合等手势推进整条叙事，身体动作本身就是交互。</a:t>
            </a:r>
          </a:p>
          <a:p>
            <a:pPr>
              <a:lnSpc>
                <a:spcPct val="116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叙事弧线：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开场换脸 → 扫土挖掘 → 握拳检测 → 爆炸图零件 → 捏合查看 → AI 猜想 → 三种处置 → 生成档案卡。</a:t>
            </a:r>
          </a:p>
          <a:p>
            <a:pPr>
              <a:lnSpc>
                <a:spcPct val="116000"/>
              </a:lnSpc>
              <a:spcAft>
                <a:spcPts val="1600"/>
              </a:spcAft>
            </a:pPr>
            <a:r>
              <a:rPr sz="17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700" b="1" i="0">
                <a:solidFill>
                  <a:srgbClr val="F0C877"/>
                </a:solidFill>
                <a:latin typeface="Microsoft YaHei"/>
                <a:ea typeface="Microsoft YaHei"/>
              </a:rPr>
              <a:t>技术亮点：</a:t>
            </a:r>
            <a:r>
              <a:rPr sz="1700" b="0" i="0">
                <a:solidFill>
                  <a:srgbClr val="F3EAD8"/>
                </a:solidFill>
                <a:latin typeface="Microsoft YaHei"/>
                <a:ea typeface="Microsoft YaHei"/>
              </a:rPr>
              <a:t>MediaPipe 手势识别 + Ollama 本地大模型 + 逐像素零件动画，三者离线可跑。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02 · CONCEPT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为什么做这个 · 灵感与主题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0312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7744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0C877"/>
                </a:solidFill>
                <a:latin typeface="Microsoft YaHei"/>
                <a:ea typeface="Microsoft YaHei"/>
              </a:rPr>
              <a:t>♻️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3EAD8"/>
                </a:solidFill>
                <a:latin typeface="Microsoft YaHei"/>
                <a:ea typeface="Microsoft YaHei"/>
              </a:rPr>
              <a:t>电子垃圾与可持续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794760"/>
            <a:ext cx="2953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B7A98F"/>
                </a:solidFill>
                <a:latin typeface="Microsoft YaHei"/>
                <a:ea typeface="Microsoft YaHei"/>
              </a:rPr>
              <a:t>一块智能手表 = 玻璃 / 硅 / 电池 / 铝。拆解与回收，才是它最现实的未来。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34256" y="210312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08576" y="237744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0C877"/>
                </a:solidFill>
                <a:latin typeface="Microsoft YaHei"/>
                <a:ea typeface="Microsoft YaHei"/>
              </a:rPr>
              <a:t>🏛️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6" y="31546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3EAD8"/>
                </a:solidFill>
                <a:latin typeface="Microsoft YaHei"/>
                <a:ea typeface="Microsoft YaHei"/>
              </a:rPr>
              <a:t>科技即未来文物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8576" y="3794760"/>
            <a:ext cx="2953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B7A98F"/>
                </a:solidFill>
                <a:latin typeface="Microsoft YaHei"/>
                <a:ea typeface="Microsoft YaHei"/>
              </a:rPr>
              <a:t>今天被我们随手丢弃的科技产品，终将成为后人眼中需要「考古」的遗迹。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28432" y="2103120"/>
            <a:ext cx="3502152" cy="3291840"/>
          </a:xfrm>
          <a:prstGeom prst="roundRect">
            <a:avLst>
              <a:gd name="adj" fmla="val 6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77440"/>
            <a:ext cx="295351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400" b="0" i="0">
                <a:solidFill>
                  <a:srgbClr val="F0C877"/>
                </a:solidFill>
                <a:latin typeface="Microsoft YaHei"/>
                <a:ea typeface="Microsoft YaHei"/>
              </a:rPr>
              <a:t>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3154680"/>
            <a:ext cx="295351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900" b="1" i="0">
                <a:solidFill>
                  <a:srgbClr val="F3EAD8"/>
                </a:solidFill>
                <a:latin typeface="Microsoft YaHei"/>
                <a:ea typeface="Microsoft YaHei"/>
              </a:rPr>
              <a:t>身体即交互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3794760"/>
            <a:ext cx="2953512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 b="0" i="0">
                <a:solidFill>
                  <a:srgbClr val="B7A98F"/>
                </a:solidFill>
                <a:latin typeface="Microsoft YaHei"/>
                <a:ea typeface="Microsoft YaHei"/>
              </a:rPr>
              <a:t>用「扫土」「握拳」「拼合」的肢体动作代替点击，让挖掘与拼装的动作成为叙事本身。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03 · EXPERIENCE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完整体验流程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状态机驱动，手势推进每一步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BOOT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加载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98648" y="23865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10128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10128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INTRO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10128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开场换脸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8696" y="23865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80176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PROMPT1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0176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提示：张手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38658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50224" y="214884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50224" y="231343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ANIM1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50224" y="269748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扫土动画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221B12"/>
          </a:solidFill>
          <a:ln w="1270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三种处置→档案卡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439826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310128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SELECT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0128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爆炸图·捏合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898648" y="439826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80176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80176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ANIM2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80176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检测动画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568696" y="4398264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000" b="1" i="0">
                <a:solidFill>
                  <a:srgbClr val="E0A94F"/>
                </a:solidFill>
                <a:latin typeface="Microsoft YaHei"/>
                <a:ea typeface="Microsoft YaHei"/>
              </a:rPr>
              <a:t>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650224" y="4160520"/>
            <a:ext cx="2212848" cy="960120"/>
          </a:xfrm>
          <a:prstGeom prst="roundRect">
            <a:avLst>
              <a:gd name="adj" fmla="val 14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0224" y="4325112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500" b="1" i="0">
                <a:solidFill>
                  <a:srgbClr val="F0C877"/>
                </a:solidFill>
                <a:latin typeface="Microsoft YaHei"/>
                <a:ea typeface="Microsoft YaHei"/>
              </a:rPr>
              <a:t>PROMPT2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50224" y="4709160"/>
            <a:ext cx="22128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100" b="0" i="0">
                <a:solidFill>
                  <a:srgbClr val="B7A98F"/>
                </a:solidFill>
                <a:latin typeface="Microsoft YaHei"/>
                <a:ea typeface="Microsoft YaHei"/>
              </a:rPr>
              <a:t>提示：握拳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82328" y="3200400"/>
            <a:ext cx="5486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2200" b="1" i="0">
                <a:solidFill>
                  <a:srgbClr val="E0A94F"/>
                </a:solidFill>
                <a:latin typeface="Microsoft YaHei"/>
                <a:ea typeface="Microsoft YaHei"/>
              </a:rPr>
              <a:t>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34924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00" b="0" i="0">
                <a:solidFill>
                  <a:srgbClr val="B7A98F"/>
                </a:solidFill>
                <a:latin typeface="Microsoft YaHei"/>
                <a:ea typeface="Microsoft YaHei"/>
              </a:rPr>
              <a:t>从「成为未来考古学家」开始，到「为这件文物选择命运」结束，全程由手势串联。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05 · INTRO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开场 · 成为未来考古学家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你的脸，就是考古学家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92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摄像头实时预览：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脸部对齐椭圆取景框，点击「📸 Freeze my face」定格。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拖动贴合：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拖动照片 + Size 滑杆，把脸精确贴合到考古学家头像。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一秒入戏：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第一帧起，你就是那位「未来考古学家」。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可重拍：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随时 Retake，直到满意为止。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2093976"/>
            <a:ext cx="5596128" cy="2995682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5486400" cy="2885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4452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开场界面 · 把脸贴到考古学家头像上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06 · EXCAVATE &amp; DETECT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挖掘 &amp; 检测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扫土 → 握拳 → 检测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92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扫土动画：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张开手掌 + 挥手，逐帧扫去尘土，露出被掩埋的遗迹。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握拳检测：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握拳触发“探测”动画，锁定地层下埋藏的到底是什么。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调速：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Speed 1–30 fps 实时可调，动画即播即改。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离线帧序列：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frames1 / frames3 定格动画，本地加载。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2093976"/>
            <a:ext cx="5596128" cy="2995682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wee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5486400" cy="2885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4452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扫土动画 · 逐帧揭开尘土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07 · EXPLODED 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爆炸图 · 零件拆解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一块智能手表拆成 4 层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92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张开手掌：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检测结束后逐层展开，像「掀开地层」。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4 个部件：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屏幕 / 电路板 / 电池 / 表壳。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自定义属性：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每个零件注入 --y（位移）与 --d（延迟），错峰 140ms。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真实来源：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每个部件都对应一条可查证的事实与链接。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2093976"/>
            <a:ext cx="5596128" cy="2995682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xpl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5486400" cy="2885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4452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爆炸图 · 4 个零件逐层展开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08 · PARTS &amp; AI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零件信息 + AI 猜想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捏合拖出零件，听未来考古学家怎么说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92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捏合拖出：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拇指捏某根手指，把对应零件拖到最前。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信息卡：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名称 / 说明 / 来源链接，数据来自 data/parts.json。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其余压暗：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被拖出者放大 + 金色光晕，其余零件变暗。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AI 猜想：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一键生成一段「未来视角」的解读文字。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2093976"/>
            <a:ext cx="5596128" cy="2995682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nf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5486400" cy="2885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4452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捏合拖出电路板 · 信息卡 + AI 按钮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09 · HAND TRACKING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手势识别 · 关键代码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MediaPipe 手部关键点 + 阈值判定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6309360" cy="4069080"/>
          </a:xfrm>
          <a:prstGeom prst="roundRect">
            <a:avLst>
              <a:gd name="adj" fmla="val 3500"/>
            </a:avLst>
          </a:prstGeom>
          <a:solidFill>
            <a:srgbClr val="0A0806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146304" cy="406908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969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0C877"/>
                </a:solidFill>
                <a:latin typeface="Microsoft YaHei"/>
                <a:ea typeface="Microsoft YaHei"/>
              </a:rPr>
              <a:t>script.js — extendedCount / detectPinch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32304"/>
            <a:ext cx="5806440" cy="3538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伸直手指数量（0..5），用掌心尺度归一化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function extendedCount(lm)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wrist = lm[0];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scale = dist(wrist, lm[9]) || 1;  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手部尺度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let count = 0;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tips = [8, 12, 16, 20];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pips = [6, 10, 14, 18];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for (let i = 0; i &lt; 4; i++)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const a = dist(lm[tips[i]], wrist);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const b = dist(lm[pips[i]], wrist);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if (a &gt; b) count++;       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指尖更远 → 伸直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if (dist(lm[4], lm[5]) &gt; scale * 0.9) count++; 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拇指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return count;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捏合：拇指尖触碰某指尖，返回 0..3 或 -1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function detectPinch(lm)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scale = dist(lm[0], lm[9]) || 1;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let best = -1, bestD = Infinity;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for (let i = 0; i &lt; 4; i++)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const d = dist(lm[4], lm[[8,12,16,20][i]]);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if (d &lt; bestD) { bestD = d; best = i; 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return bestD &lt; scale * 0.32 ? best : -1;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48840"/>
            <a:ext cx="416052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张手 ≥ 3.6：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触发扫土 / 展开爆炸图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握拳 ≤ 1.2：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触发检测 / 拼合收尾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捏合 &lt; 0.32×尺度：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拖出零件查看信息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平滑去抖：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smoothed = 0.7·旧值 + 0.3·新值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握拳门控：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捏合仅在「非握拳且 ≥2 指伸直」时判定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10 · THREE FUTURES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结尾 · 三种处置选择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You have uncovered its past. What should happen next?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92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🔧 修复与再使用：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零件重新组合，屏幕微弱亮起。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♻️ 回收材料：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零件飞入玻璃 / 硅 / 电池 / 铝收集格。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🏛️ 作为文物保存：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旁边出现博物馆档案标签。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意义：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观众的选择，就是我们对电子垃圾的真实选择。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2093976"/>
            <a:ext cx="5596128" cy="2995682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e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5486400" cy="2885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4452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握拳拼合后 · 三种处置选择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11 · RECOVER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回收材料 · 零件飞行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用真实像素坐标把零件「飞」进收集格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5943600" cy="4069080"/>
          </a:xfrm>
          <a:prstGeom prst="roundRect">
            <a:avLst>
              <a:gd name="adj" fmla="val 3500"/>
            </a:avLst>
          </a:prstGeom>
          <a:solidFill>
            <a:srgbClr val="0A0806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146304" cy="406908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9696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0C877"/>
                </a:solidFill>
                <a:latin typeface="Microsoft YaHei"/>
                <a:ea typeface="Microsoft YaHei"/>
              </a:rPr>
              <a:t>script.js — flyToBins()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32304"/>
            <a:ext cx="5440680" cy="3538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把每个零件飞入对应收集格（按屏幕坐标量终点）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function flyToBins()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r = explodeView.getBoundingClientRect();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cx = r.left + r.width / 2;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cy = r.top + r.height / 2;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parts.forEach(p =&gt;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const bin = bins.querySelector(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'[data-bin="' + p.dataset.comp + '"]');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const a = p.getBoundingClientRect();  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起点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const b = bin.getBoundingClientRect();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终点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p.style.transform = 'translate(-50%,-50%)'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+ ' translate(' + (b.left + b.width/2 - cx)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+ 'px,' + (b.top + b.height/2 - cy) + 'px)'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+ ' scale(.5)';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});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94576" y="2231136"/>
            <a:ext cx="4727448" cy="2538739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2286000"/>
            <a:ext cx="4617720" cy="242901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949440" y="4824739"/>
            <a:ext cx="4617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回收 · 零件落入四个材料收集格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5120640"/>
            <a:ext cx="4617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00" b="1" i="0">
                <a:solidFill>
                  <a:srgbClr val="F0C877"/>
                </a:solidFill>
                <a:latin typeface="Microsoft YaHei"/>
                <a:ea typeface="Microsoft YaHei"/>
              </a:rPr>
              <a:t>两步法动画：</a:t>
            </a:r>
            <a:r>
              <a:rPr sz="1300" b="0" i="0">
                <a:solidFill>
                  <a:srgbClr val="F3EAD8"/>
                </a:solidFill>
                <a:latin typeface="Microsoft YaHei"/>
                <a:ea typeface="Microsoft YaHei"/>
              </a:rPr>
              <a:t>先设起点 transform → 强制 reflow → 再设终点，才能触发平滑过渡。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12 · ARCHIVE CARD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最终 · 考古档案卡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让观众为这件文物留下一句话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48840"/>
            <a:ext cx="4892040" cy="3840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一句话输入：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“你希望未来的人记住这个物品的什么？”（≤140 字）。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生成档案卡：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处置方式 + 观众的这句话，共同生成一张考古档案卡。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卡片内容：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编号 · Archived 印章 · 一句话 · 重新开始。</a:t>
            </a:r>
          </a:p>
          <a:p>
            <a:pPr>
              <a:lnSpc>
                <a:spcPct val="116000"/>
              </a:lnSpc>
              <a:spcAft>
                <a:spcPts val="1200"/>
              </a:spcAft>
            </a:pPr>
            <a:r>
              <a:rPr sz="14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400" b="1" i="0">
                <a:solidFill>
                  <a:srgbClr val="F0C877"/>
                </a:solidFill>
                <a:latin typeface="Microsoft YaHei"/>
                <a:ea typeface="Microsoft YaHei"/>
              </a:rPr>
              <a:t>闭环：</a:t>
            </a:r>
            <a:r>
              <a:rPr sz="1400" b="0" i="0">
                <a:solidFill>
                  <a:srgbClr val="F3EAD8"/>
                </a:solidFill>
                <a:latin typeface="Microsoft YaHei"/>
                <a:ea typeface="Microsoft YaHei"/>
              </a:rPr>
              <a:t>从「挖掘」到「铭记」，每位观众留下独一无二的记忆。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34456" y="2093976"/>
            <a:ext cx="5596128" cy="2995682"/>
          </a:xfrm>
          <a:prstGeom prst="roundRect">
            <a:avLst>
              <a:gd name="adj" fmla="val 2500"/>
            </a:avLst>
          </a:prstGeom>
          <a:solidFill>
            <a:srgbClr val="000000"/>
          </a:solidFill>
          <a:ln w="13970">
            <a:solidFill>
              <a:srgbClr val="E0A9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arch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2148840"/>
            <a:ext cx="5486400" cy="288595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989320" y="5144522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1050" b="0" i="1">
                <a:solidFill>
                  <a:srgbClr val="B7A98F"/>
                </a:solidFill>
                <a:latin typeface="Microsoft YaHei"/>
                <a:ea typeface="Microsoft YaHei"/>
              </a:rPr>
              <a:t>最终考古档案卡 · 羊皮纸质感 + 印章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13 · ANIMATION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爆炸动画 · 纯 CSS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自定义属性驱动，GPU 加速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6309360" cy="4069080"/>
          </a:xfrm>
          <a:prstGeom prst="roundRect">
            <a:avLst>
              <a:gd name="adj" fmla="val 3500"/>
            </a:avLst>
          </a:prstGeom>
          <a:solidFill>
            <a:srgbClr val="0A0806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146304" cy="406908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969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0C877"/>
                </a:solidFill>
                <a:latin typeface="Microsoft YaHei"/>
                <a:ea typeface="Microsoft YaHei"/>
              </a:rPr>
              <a:t>style.css — 爆炸图过渡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32304"/>
            <a:ext cx="5806440" cy="3538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/* 每个零件：默认收拢，展开时位移到 var(--y) */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.explode__part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transform: translate(-50%,-50%) translateY(0) scale(.7);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transition: transform .85s cubic-bezier(.22,1,.36,1);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transition-delay: var(--d, 0ms);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.explode.exploded .explode__part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transform: translate(-50%,-50%) translateY(var(--y)) scale(1);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/* 捏合拖出：前移放大 + 金色光晕 */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.explode.exploded .explode__part--dragged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transform: translate(-50%,-50%) translateY(var(--y))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       translateZ(140px) scale(1.45);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filter: drop-shadow(0 24px 44px rgba(224,169,79,.5));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48840"/>
            <a:ext cx="416052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--y：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每个零件目标位移（-34vh…34vh）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--d：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过渡延迟，逐层错峰 140ms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收拢：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translateY(0) scale(.7)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拖出：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translateZ(140px) scale(1.45) + 光晕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零依赖：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不用动画库，纯 CSS 过渡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14 · AI &amp; SECURITY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AI 猜想 · 与密钥安全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本地大模型 + 密钥绝不进前端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011680"/>
            <a:ext cx="6309360" cy="4069080"/>
          </a:xfrm>
          <a:prstGeom prst="roundRect">
            <a:avLst>
              <a:gd name="adj" fmla="val 3500"/>
            </a:avLst>
          </a:prstGeom>
          <a:solidFill>
            <a:srgbClr val="0A0806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2011680"/>
            <a:ext cx="146304" cy="406908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139696"/>
            <a:ext cx="5852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00" b="1" i="0">
                <a:solidFill>
                  <a:srgbClr val="F0C877"/>
                </a:solidFill>
                <a:latin typeface="Microsoft YaHei"/>
                <a:ea typeface="Microsoft YaHei"/>
              </a:rPr>
              <a:t>script.js — 调用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432304"/>
            <a:ext cx="5806440" cy="3538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const PROVIDER = 'ollama'; 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本地免费，或 'claude'/'openai'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async function askOllama(prompt)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r = await fetch('http: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//localhost:11434/api/generate',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{ method: 'POST',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body: JSON.stringify({ model: 'gemma3:1b',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                       prompt, stream: false }) });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return (await r.json()).response;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Claude/OpenAI 的 key 绝不进前端，走 server.js 转发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async function askCloud(provider, prompt) {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const d = await (await fetch('/api/' + provider,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{ method: 'POST',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    body: JSON.stringify({ prompt }) })).json();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  return d.text;  </a:t>
            </a:r>
            <a:r>
              <a:rPr sz="1050" b="0" i="0">
                <a:solidFill>
                  <a:srgbClr val="8A7B5C"/>
                </a:solidFill>
                <a:latin typeface="Consolas"/>
                <a:ea typeface="Microsoft YaHei"/>
              </a:rPr>
              <a:t>// key 由服务端从 .env 读取</a:t>
            </a:r>
          </a:p>
          <a:p>
            <a:pPr>
              <a:lnSpc>
                <a:spcPct val="100000"/>
              </a:lnSpc>
              <a:spcAft>
                <a:spcPts val="100"/>
              </a:spcAft>
            </a:pPr>
            <a:r>
              <a:rPr sz="1050" b="0" i="0">
                <a:solidFill>
                  <a:srgbClr val="D9D2C4"/>
                </a:solidFill>
                <a:latin typeface="Consolas"/>
                <a:ea typeface="Microsoft YaHei"/>
              </a:rPr>
              <a:t>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2148840"/>
            <a:ext cx="4160520" cy="3931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Ollama：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本地 gemma3:1b，离线免费，数据不出本机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Claude/OpenAI：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需 key，走 Node server.js 代理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🔒 安全：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key 只写 .env（gitignore），绝不出现在前端 JS</a:t>
            </a:r>
          </a:p>
          <a:p>
            <a:pPr>
              <a:lnSpc>
                <a:spcPct val="116000"/>
              </a:lnSpc>
              <a:spcAft>
                <a:spcPts val="1300"/>
              </a:spcAft>
            </a:pPr>
            <a:r>
              <a:rPr sz="135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350" b="1" i="0">
                <a:solidFill>
                  <a:srgbClr val="F0C877"/>
                </a:solidFill>
                <a:latin typeface="Microsoft YaHei"/>
                <a:ea typeface="Microsoft YaHei"/>
              </a:rPr>
              <a:t>前端：</a:t>
            </a:r>
            <a:r>
              <a:rPr sz="1350" b="0" i="0">
                <a:solidFill>
                  <a:srgbClr val="F3EAD8"/>
                </a:solidFill>
                <a:latin typeface="Microsoft YaHei"/>
                <a:ea typeface="Microsoft YaHei"/>
              </a:rPr>
              <a:t>只请求 /api/xxx，由服务端注入密钥转发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15 ·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804672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69264"/>
            <a:ext cx="1088136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2800" b="1" i="0">
                <a:solidFill>
                  <a:srgbClr val="F3EAD8"/>
                </a:solidFill>
                <a:latin typeface="Microsoft YaHei"/>
                <a:ea typeface="Microsoft YaHei"/>
              </a:rPr>
              <a:t>技术架构</a:t>
            </a:r>
          </a:p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350" b="0" i="0">
                <a:solidFill>
                  <a:srgbClr val="B7A98F"/>
                </a:solidFill>
                <a:latin typeface="Microsoft YaHei"/>
                <a:ea typeface="Microsoft YaHei"/>
              </a:rPr>
              <a:t>三层：表现 · 感知 · 智能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6419088"/>
            <a:ext cx="10908792" cy="12700"/>
          </a:xfrm>
          <a:prstGeom prst="rect">
            <a:avLst/>
          </a:prstGeom>
          <a:solidFill>
            <a:srgbClr val="3A2F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DigSite · Gesture Archaeology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49224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000" b="0" i="0">
                <a:solidFill>
                  <a:srgbClr val="B7A98F"/>
                </a:solidFill>
                <a:latin typeface="Microsoft YaHei"/>
                <a:ea typeface="Microsoft YaHe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03120"/>
            <a:ext cx="10607040" cy="1188720"/>
          </a:xfrm>
          <a:prstGeom prst="roundRect">
            <a:avLst>
              <a:gd name="adj" fmla="val 10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26771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表现层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27066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E0A94F"/>
                </a:solidFill>
                <a:latin typeface="Microsoft YaHei"/>
                <a:ea typeface="Microsoft YaHei"/>
              </a:rPr>
              <a:t>HTML + CSS + 原生 JS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232257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F3EAD8"/>
                </a:solidFill>
                <a:latin typeface="Microsoft YaHei"/>
                <a:ea typeface="Microsoft YaHei"/>
              </a:rPr>
              <a:t>CSS 自定义属性驱动爆炸图与逐像素飞行动画；JS 状态机串起整条叙事。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474720"/>
            <a:ext cx="10607040" cy="1188720"/>
          </a:xfrm>
          <a:prstGeom prst="roundRect">
            <a:avLst>
              <a:gd name="adj" fmla="val 10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3931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感知层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40782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E0A94F"/>
                </a:solidFill>
                <a:latin typeface="Microsoft YaHei"/>
                <a:ea typeface="Microsoft YaHei"/>
              </a:rPr>
              <a:t>MediaPipe HandLandmarker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0440" y="369417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F3EAD8"/>
                </a:solidFill>
                <a:latin typeface="Microsoft YaHei"/>
                <a:ea typeface="Microsoft YaHei"/>
              </a:rPr>
              <a:t>本地 WASM 离线识别 21 个手部关键点，输出手指数量与捏合手势。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846320"/>
            <a:ext cx="10607040" cy="1188720"/>
          </a:xfrm>
          <a:prstGeom prst="roundRect">
            <a:avLst>
              <a:gd name="adj" fmla="val 10000"/>
            </a:avLst>
          </a:prstGeom>
          <a:solidFill>
            <a:srgbClr val="1A140D"/>
          </a:solidFill>
          <a:ln w="12700">
            <a:solidFill>
              <a:srgbClr val="3A2F2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5010912"/>
            <a:ext cx="2194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智能层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449824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150" b="1" i="0">
                <a:solidFill>
                  <a:srgbClr val="E0A94F"/>
                </a:solidFill>
                <a:latin typeface="Microsoft YaHei"/>
                <a:ea typeface="Microsoft YaHei"/>
              </a:rPr>
              <a:t>Ollama · gemma3:1b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5065776"/>
            <a:ext cx="7498079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50" b="0" i="0">
                <a:solidFill>
                  <a:srgbClr val="F3EAD8"/>
                </a:solidFill>
                <a:latin typeface="Microsoft YaHei"/>
                <a:ea typeface="Microsoft YaHei"/>
              </a:rPr>
              <a:t>本地大模型生成“未来考古学家”的猜想；可切换 Claude / OpenAI。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250" b="1" i="0">
                <a:solidFill>
                  <a:srgbClr val="E0A94F"/>
                </a:solidFill>
                <a:latin typeface="Microsoft YaHei"/>
                <a:ea typeface="Microsoft YaHei"/>
              </a:rPr>
              <a:t>🔒  安全：</a:t>
            </a:r>
            <a:r>
              <a:rPr sz="1250" b="0" i="0">
                <a:solidFill>
                  <a:srgbClr val="B7A98F"/>
                </a:solidFill>
                <a:latin typeface="Microsoft YaHei"/>
                <a:ea typeface="Microsoft YaHei"/>
              </a:rPr>
              <a:t>API Key 只写在 .env（已 gitignore），由 server.js 代理转发，绝不出现在前端 JS 中。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B0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810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8813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1" i="0">
                <a:solidFill>
                  <a:srgbClr val="E0A94F"/>
                </a:solidFill>
                <a:latin typeface="Microsoft YaHei"/>
                <a:ea typeface="Microsoft YaHei"/>
              </a:rPr>
              <a:t>16 · REFLECTION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502920" cy="33020"/>
          </a:xfrm>
          <a:prstGeom prst="rect">
            <a:avLst/>
          </a:prstGeom>
          <a:solidFill>
            <a:srgbClr val="E0A9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3EAD8"/>
                </a:solidFill>
                <a:latin typeface="Microsoft YaHei"/>
                <a:ea typeface="Microsoft YaHei"/>
              </a:rPr>
              <a:t>总结 · 意义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148840"/>
            <a:ext cx="10607040" cy="3108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lnSpc>
                <a:spcPct val="116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用身体交互讲故事：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手势不再是“替代鼠标”，而是“挖掘”“拼合”“铭记”的叙事动作本身。</a:t>
            </a:r>
          </a:p>
          <a:p>
            <a:pPr>
              <a:lnSpc>
                <a:spcPct val="116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一件平凡之物，三种命运：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修复 / 回收 / 保存 —— 观众的选择，正是我们对电子垃圾的真实选择。</a:t>
            </a:r>
          </a:p>
          <a:p>
            <a:pPr>
              <a:lnSpc>
                <a:spcPct val="116000"/>
              </a:lnSpc>
              <a:spcAft>
                <a:spcPts val="1400"/>
              </a:spcAft>
            </a:pPr>
            <a:r>
              <a:rPr sz="1600" b="1" i="0">
                <a:solidFill>
                  <a:srgbClr val="E0A94F"/>
                </a:solidFill>
                <a:latin typeface="Microsoft YaHei"/>
                <a:ea typeface="Microsoft YaHei"/>
              </a:rPr>
              <a:t>▪ </a:t>
            </a:r>
            <a:r>
              <a:rPr sz="1600" b="1" i="0">
                <a:solidFill>
                  <a:srgbClr val="F0C877"/>
                </a:solidFill>
                <a:latin typeface="Microsoft YaHei"/>
                <a:ea typeface="Microsoft YaHei"/>
              </a:rPr>
              <a:t>可持续主题：</a:t>
            </a:r>
            <a:r>
              <a:rPr sz="1600" b="0" i="0">
                <a:solidFill>
                  <a:srgbClr val="F3EAD8"/>
                </a:solidFill>
                <a:latin typeface="Microsoft YaHei"/>
                <a:ea typeface="Microsoft YaHei"/>
              </a:rPr>
              <a:t>把“科技即未来文物”与“电子废弃物”议题，藏进一场好玩的互动体验里。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486400"/>
            <a:ext cx="9445752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600"/>
              </a:spcAft>
            </a:pPr>
            <a:r>
              <a:rPr sz="3000" b="1" i="0">
                <a:solidFill>
                  <a:srgbClr val="F0C877"/>
                </a:solidFill>
                <a:latin typeface="Microsoft YaHei"/>
                <a:ea typeface="Microsoft YaHei"/>
              </a:rPr>
              <a:t>Thank you  ·  谢谢观看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